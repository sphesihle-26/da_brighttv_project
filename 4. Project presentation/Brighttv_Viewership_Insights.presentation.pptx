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 Count</c:v>
                </c:pt>
              </c:strCache>
            </c:strRef>
          </c:tx>
          <c:spPr>
            <a:solidFill>
              <a:srgbClr val="1A56A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56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56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56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D1F3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Supersport Live</c:v>
                </c:pt>
                <c:pt idx="1">
                  <c:v>ICC Cricket WC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09a9944-70f3-4202-816e-0a980ff9d0d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D1F3C"/>
              </a:solidFill>
              <a:effectLst/>
            </c:spPr>
          </c:dPt>
          <c:dPt>
            <c:idx val="1"/>
            <c:bubble3D val="0"/>
            <c:spPr>
              <a:solidFill>
                <a:srgbClr val="1A56A0"/>
              </a:solidFill>
              <a:effectLst/>
            </c:spPr>
          </c:dPt>
          <c:dPt>
            <c:idx val="2"/>
            <c:bubble3D val="0"/>
            <c:spPr>
              <a:solidFill>
                <a:srgbClr val="2E86DE"/>
              </a:solidFill>
              <a:effectLst/>
            </c:spPr>
          </c:dPt>
          <c:dPt>
            <c:idx val="3"/>
            <c:bubble3D val="0"/>
            <c:spPr>
              <a:solidFill>
                <a:srgbClr val="F4B942"/>
              </a:solidFill>
              <a:effectLst/>
            </c:spPr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bubble3D val="0"/>
            <c:spPr>
              <a:solidFill>
                <a:srgbClr val="F97316"/>
              </a:solidFill>
              <a:effectLst/>
            </c:spPr>
          </c:dPt>
          <c:dPt>
            <c:idx val="6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Gauteng</c:v>
                </c:pt>
                <c:pt idx="1">
                  <c:v>Western Cape</c:v>
                </c:pt>
                <c:pt idx="2">
                  <c:v>KwaZulu-Natal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3574</c:v>
                </c:pt>
                <c:pt idx="1">
                  <c:v>1814</c:v>
                </c:pt>
                <c:pt idx="2">
                  <c:v>1145</c:v>
                </c:pt>
                <c:pt idx="3">
                  <c:v>916</c:v>
                </c:pt>
                <c:pt idx="4">
                  <c:v>714</c:v>
                </c:pt>
                <c:pt idx="5">
                  <c:v>678</c:v>
                </c:pt>
                <c:pt idx="6">
                  <c:v>851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64748B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fbb63ae-3fb9-496e-92a5-13dc886a0bb1}"/>
      </c:ext>
    </c:extLst>
  </c:chart>
  <c:spPr>
    <a:solidFill>
      <a:srgbClr val="F0F4F8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1F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56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0D1F3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Under 18</c:v>
                </c:pt>
                <c:pt idx="1">
                  <c:v>18–24</c:v>
                </c:pt>
                <c:pt idx="2">
                  <c:v>25–34</c:v>
                </c:pt>
                <c:pt idx="3">
                  <c:v>35–44</c:v>
                </c:pt>
                <c:pt idx="4">
                  <c:v>45–54</c:v>
                </c:pt>
                <c:pt idx="5">
                  <c:v>55+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586</c:v>
                </c:pt>
                <c:pt idx="1">
                  <c:v>1479</c:v>
                </c:pt>
                <c:pt idx="2">
                  <c:v>4054</c:v>
                </c:pt>
                <c:pt idx="3">
                  <c:v>2709</c:v>
                </c:pt>
                <c:pt idx="4">
                  <c:v>908</c:v>
                </c:pt>
                <c:pt idx="5">
                  <c:v>264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58cb432-5d9c-4900-aabb-f532375c190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D1F3C"/>
              </a:solidFill>
              <a:effectLst/>
            </c:spPr>
          </c:dPt>
          <c:dPt>
            <c:idx val="1"/>
            <c:bubble3D val="0"/>
            <c:spPr>
              <a:solidFill>
                <a:srgbClr val="1A56A0"/>
              </a:solidFill>
              <a:effectLst/>
            </c:spPr>
          </c:dPt>
          <c:dPt>
            <c:idx val="2"/>
            <c:bubble3D val="0"/>
            <c:spPr>
              <a:solidFill>
                <a:srgbClr val="2E86DE"/>
              </a:solidFill>
              <a:effectLst/>
            </c:spPr>
          </c:dPt>
          <c:dPt>
            <c:idx val="3"/>
            <c:bubble3D val="0"/>
            <c:spPr>
              <a:solidFill>
                <a:srgbClr val="F4B942"/>
              </a:solidFill>
              <a:effectLst/>
            </c:spPr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9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Coloured</c:v>
                </c:pt>
                <c:pt idx="2">
                  <c:v>Indian/Asian</c:v>
                </c:pt>
                <c:pt idx="3">
                  <c:v>White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4247</c:v>
                </c:pt>
                <c:pt idx="1">
                  <c:v>1768</c:v>
                </c:pt>
                <c:pt idx="2">
                  <c:v>1463</c:v>
                </c:pt>
                <c:pt idx="3">
                  <c:v>1292</c:v>
                </c:pt>
                <c:pt idx="4">
                  <c:v>101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ec61329-9a67-4a0d-93a8-86e1402dc40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ln w="38100" cap="flat" cmpd="sng" algn="ctr">
              <a:solidFill>
                <a:srgbClr val="F4B9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B942"/>
              </a:solidFill>
              <a:ln w="9525" cap="flat" cmpd="sng" algn="ctr">
                <a:solidFill>
                  <a:srgbClr val="F4B94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rgbClr val="0D1F3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2203</c:v>
                </c:pt>
                <c:pt idx="1">
                  <c:v>2976</c:v>
                </c:pt>
                <c:pt idx="2">
                  <c:v>4821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d17a874-f2db-4e31-8b05-199eb1a05eb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2E86D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1F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56A0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1279</c:v>
                </c:pt>
                <c:pt idx="1">
                  <c:v>1285</c:v>
                </c:pt>
                <c:pt idx="2">
                  <c:v>1444</c:v>
                </c:pt>
                <c:pt idx="3">
                  <c:v>1476</c:v>
                </c:pt>
                <c:pt idx="4">
                  <c:v>1463</c:v>
                </c:pt>
                <c:pt idx="5">
                  <c:v>1697</c:v>
                </c:pt>
                <c:pt idx="6">
                  <c:v>1356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268bef3-f540-4501-bd9b-e38814dfdea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Viewing Minutes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B9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B9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1F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56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6D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D1F3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ICC Cricket WC 2011</c:v>
                </c:pt>
                <c:pt idx="1">
                  <c:v>Supersport Live Events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Boomerang</c:v>
                </c:pt>
                <c:pt idx="6">
                  <c:v>Cartoon Network</c:v>
                </c:pt>
                <c:pt idx="7">
                  <c:v>CNN</c:v>
                </c:pt>
                <c:pt idx="8">
                  <c:v>Africa Magic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24728</c:v>
                </c:pt>
                <c:pt idx="1">
                  <c:v>18792</c:v>
                </c:pt>
                <c:pt idx="2">
                  <c:v>11565</c:v>
                </c:pt>
                <c:pt idx="3">
                  <c:v>11515</c:v>
                </c:pt>
                <c:pt idx="4">
                  <c:v>5441</c:v>
                </c:pt>
                <c:pt idx="5">
                  <c:v>4396</c:v>
                </c:pt>
                <c:pt idx="6">
                  <c:v>4215</c:v>
                </c:pt>
                <c:pt idx="7">
                  <c:v>4067</c:v>
                </c:pt>
                <c:pt idx="8">
                  <c:v>2923</c:v>
                </c:pt>
                <c:pt idx="9">
                  <c:v>2219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462a42a-1a6f-46a2-ac93-28e8b966a21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9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9.xml"/><Relationship Id="rId3" Type="http://schemas.openxmlformats.org/officeDocument/2006/relationships/tags" Target="../tags/tag12.xml"/><Relationship Id="rId29" Type="http://schemas.openxmlformats.org/officeDocument/2006/relationships/tags" Target="../tags/tag38.xml"/><Relationship Id="rId28" Type="http://schemas.openxmlformats.org/officeDocument/2006/relationships/tags" Target="../tags/tag37.xml"/><Relationship Id="rId27" Type="http://schemas.openxmlformats.org/officeDocument/2006/relationships/tags" Target="../tags/tag36.xml"/><Relationship Id="rId26" Type="http://schemas.openxmlformats.org/officeDocument/2006/relationships/tags" Target="../tags/tag35.xml"/><Relationship Id="rId25" Type="http://schemas.openxmlformats.org/officeDocument/2006/relationships/tags" Target="../tags/tag34.xml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F4B942">
              <a:alpha val="30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B94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Brighttv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BD5E1"/>
                </a:solidFill>
              </a:rPr>
              <a:t>VIEWERSHIP ANALYTICS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Audience Insights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January – March 2016  |  10,000 Viewing Records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64592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747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B942"/>
                </a:solidFill>
              </a:rPr>
              <a:t>10,000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Viewing Records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34747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B942"/>
                </a:solidFill>
              </a:rPr>
              <a:t>4,512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97480" y="39776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Unique Viewers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B942"/>
                </a:solidFill>
              </a:rPr>
              <a:t>1,527 hrs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46320" y="39776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Total Watch 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5160" y="34747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B942"/>
                </a:solidFill>
              </a:rPr>
              <a:t>21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95160" y="39776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Channels Tracked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B942"/>
                </a:solidFill>
                <a:highlight>
                  <a:srgbClr val="000000"/>
                </a:highlight>
              </a:rPr>
              <a:t>KEY PERFORMANCE INDICATORS  ·  Q1 2016</a:t>
            </a:r>
            <a:endParaRPr lang="en-US" sz="900" b="1" kern="0" spc="300" dirty="0">
              <a:solidFill>
                <a:srgbClr val="F4B942"/>
              </a:solidFill>
              <a:highlight>
                <a:srgbClr val="000000"/>
              </a:highlight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6916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89888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1762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Views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Across 21 channels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6916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89888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4,512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21762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Unique Viewers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246888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Distinct user IDs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6916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389888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1,527 hrs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21762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Watch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46888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Aggregate viewing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65176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264408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Supersport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Live Events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40507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Most Watched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343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1,638 views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2651760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3264408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Gauteng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429000" y="40507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Province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4343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36% of all views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2651760" cy="1691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3264408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32.4 yrs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63640" y="40507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Viewer 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43434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25–34 dominant group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Channel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B942"/>
                </a:solidFill>
                <a:highlight>
                  <a:srgbClr val="000000"/>
                </a:highlight>
              </a:rPr>
              <a:t>TOP 10 CHANNELS BY VIEWER COUNT VS TOTAL WATCH TIME</a:t>
            </a:r>
            <a:endParaRPr lang="en-US" sz="900" b="1" kern="0" spc="300" dirty="0">
              <a:solidFill>
                <a:srgbClr val="F4B942"/>
              </a:solidFill>
              <a:highlight>
                <a:srgbClr val="000000"/>
              </a:highlight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5577840" y="1143000"/>
            <a:ext cx="3291840" cy="109728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5577840" y="1143000"/>
            <a:ext cx="54864" cy="10972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234440"/>
            <a:ext cx="2926080" cy="32004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🏏  Sports Dominate</a:t>
            </a:r>
            <a:endParaRPr lang="en-US" sz="1200" dirty="0"/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5760720" y="155448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Cricket + Supersport account for 31% of all views and 57% of total watch time.</a:t>
            </a:r>
            <a:endParaRPr lang="en-US" sz="1000" dirty="0"/>
          </a:p>
        </p:txBody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5577840" y="2423160"/>
            <a:ext cx="3291840" cy="109728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5577840" y="2423160"/>
            <a:ext cx="54864" cy="10972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2514600"/>
            <a:ext cx="2926080" cy="320040"/>
          </a:xfrm>
          <a:prstGeom prst="rect">
            <a:avLst/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🎵  Music Channels Strong</a:t>
            </a:r>
            <a:endParaRPr lang="en-US" sz="120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5760720" y="283464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Channel O &amp; Trace TV combine for 2,002 views — 20% of total viewership.</a:t>
            </a:r>
            <a:endParaRPr lang="en-US" sz="100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5577840" y="3703320"/>
            <a:ext cx="3291840" cy="109728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>
            <p:custDataLst>
              <p:tags r:id="rId9"/>
            </p:custDataLst>
          </p:nvPr>
        </p:nvSpPr>
        <p:spPr>
          <a:xfrm>
            <a:off x="5577840" y="3703320"/>
            <a:ext cx="54864" cy="10972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3794760"/>
            <a:ext cx="2926080" cy="3200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📺  Kids Content Active</a:t>
            </a:r>
            <a:endParaRPr lang="en-US" sz="1200" dirty="0"/>
          </a:p>
        </p:txBody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5760720" y="41148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Cartoon Network + Boomerang deliver 1,507 views, showing a diverse age reach.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Geographic Distribution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B942"/>
                </a:solidFill>
                <a:highlight>
                  <a:srgbClr val="000000"/>
                </a:highlight>
              </a:rPr>
              <a:t>VIEWERSHIP BREAKDOWN BY SOUTH AFRICAN PROVINCE</a:t>
            </a:r>
            <a:endParaRPr lang="en-US" sz="900" b="1" kern="0" spc="300" dirty="0">
              <a:solidFill>
                <a:srgbClr val="F4B942"/>
              </a:solidFill>
              <a:highlight>
                <a:srgbClr val="000000"/>
              </a:highlight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51560"/>
          <a:ext cx="47548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097280"/>
            <a:ext cx="35661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40680" y="1261872"/>
            <a:ext cx="457200" cy="45720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40680" y="12618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207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Gauteng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5087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3,574 views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55280" y="128016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1F3C"/>
                </a:solidFill>
              </a:rPr>
              <a:t>35.7%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303520" y="2057400"/>
            <a:ext cx="35661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40680" y="2221992"/>
            <a:ext cx="457200" cy="45720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0680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89320" y="21671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Western Cape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89320" y="246888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1,814 views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55280" y="224028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56A0"/>
                </a:solidFill>
              </a:rPr>
              <a:t>18.1%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303520" y="3017520"/>
            <a:ext cx="35661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40680" y="3182112"/>
            <a:ext cx="457200" cy="45720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0680" y="31821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89320" y="31272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KwaZulu-Natal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342900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1,145 views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955280" y="320040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86DE"/>
                </a:solidFill>
              </a:rPr>
              <a:t>11.5%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303520" y="3977640"/>
            <a:ext cx="35661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40680" y="4142232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40680" y="4142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89320" y="40873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Mpumalanga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89320" y="43891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916 views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955280" y="4160520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64748B"/>
                </a:solidFill>
              </a:rPr>
              <a:t>9.2%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303520" y="4937760"/>
            <a:ext cx="3566160" cy="91440"/>
          </a:xfrm>
          <a:prstGeom prst="rect">
            <a:avLst/>
          </a:prstGeom>
          <a:solidFill>
            <a:srgbClr val="0D1F3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303520" y="4892040"/>
            <a:ext cx="356616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486400" y="493776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💡  Gauteng alone drives 36% of all viewership — any campaign must lead with Gauteng targeting.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Audience Demographics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B942"/>
                </a:solidFill>
                <a:highlight>
                  <a:srgbClr val="000000"/>
                </a:highlight>
              </a:rPr>
              <a:t>AGE GROUP, GENDER &amp; RACE COMPOSITION OF THE VIEWER BASE</a:t>
            </a:r>
            <a:endParaRPr lang="en-US" sz="900" b="1" kern="0" spc="300" dirty="0">
              <a:solidFill>
                <a:srgbClr val="F4B942"/>
              </a:solidFill>
              <a:highlight>
                <a:srgbClr val="000000"/>
              </a:highlight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Age Distribution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32588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515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Race Composition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663440" y="132588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840480"/>
            <a:ext cx="1993392" cy="1051560"/>
          </a:xfrm>
          <a:prstGeom prst="rect">
            <a:avLst/>
          </a:prstGeom>
          <a:solidFill>
            <a:srgbClr val="1A56A0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8640" y="3913632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90%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48640" y="44165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Male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46451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8,726 of 9,693 viewers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633472" y="3840480"/>
            <a:ext cx="1993392" cy="1051560"/>
          </a:xfrm>
          <a:prstGeom prst="rect">
            <a:avLst/>
          </a:prstGeom>
          <a:solidFill>
            <a:srgbClr val="F4B94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724912" y="3913632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10%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724912" y="44165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Female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724912" y="46451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967 of 9,693 viewers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809744" y="3840480"/>
            <a:ext cx="1993392" cy="1051560"/>
          </a:xfrm>
          <a:prstGeom prst="rect">
            <a:avLst/>
          </a:prstGeom>
          <a:solidFill>
            <a:srgbClr val="0D1F3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901184" y="3913632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25–34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4901184" y="44165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Peak Age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901184" y="46451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40.5% of all views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986016" y="3840480"/>
            <a:ext cx="1993392" cy="1051560"/>
          </a:xfrm>
          <a:prstGeom prst="rect">
            <a:avLst/>
          </a:prstGeom>
          <a:solidFill>
            <a:srgbClr val="10B981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077456" y="3913632"/>
            <a:ext cx="18105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46%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7077456" y="44165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Black Viewers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077456" y="46451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Largest race segment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Viewing Behaviour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B942"/>
                </a:solidFill>
                <a:highlight>
                  <a:srgbClr val="000000"/>
                </a:highlight>
              </a:rPr>
              <a:t>MONTHLY TRENDS, DAY-OF-WEEK PATTERNS &amp; WEEKDAY VS WEEKEND SPLIT</a:t>
            </a:r>
            <a:endParaRPr lang="en-US" sz="900" b="1" kern="0" spc="300" dirty="0">
              <a:solidFill>
                <a:srgbClr val="F4B942"/>
              </a:solidFill>
              <a:highlight>
                <a:srgbClr val="000000"/>
              </a:highlight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Monthly Viewership Trend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325880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033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Views by Day of Week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365760" y="3977640"/>
          <a:ext cx="502920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1097280"/>
            <a:ext cx="33375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577840" y="1097280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60720" y="1170432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+119%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760720" y="157276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</a:rPr>
              <a:t>Growth Jan→Mar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760720" y="173736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Viewership nearly doubled in Q1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577840" y="2057400"/>
            <a:ext cx="33375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77840" y="2057400"/>
            <a:ext cx="54864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60720" y="2130552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Sat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760720" y="253288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</a:rPr>
              <a:t>Peak Day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760720" y="269748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Saturday leads with 1,697 views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577840" y="3017520"/>
            <a:ext cx="33375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77840" y="3017520"/>
            <a:ext cx="54864" cy="8229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60720" y="3090672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6A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69.5%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5760720" y="349300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</a:rPr>
              <a:t>Weekday Share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760720" y="365760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6,947 of 10,000 views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577840" y="3977640"/>
            <a:ext cx="33375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577840" y="3977640"/>
            <a:ext cx="54864" cy="8229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760720" y="4050792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94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30.5%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5760720" y="445312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</a:rPr>
              <a:t>Weekend Share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760720" y="461772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3,053 of 10,000 views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Watch Time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B942"/>
                </a:solidFill>
                <a:highlight>
                  <a:srgbClr val="000000"/>
                </a:highlight>
              </a:rPr>
              <a:t>TOTAL VIEWING MINUTES BY TOP CHANNEL — SPORTS CHANNELS DRIVE ENGAGEMENT DEPTH</a:t>
            </a:r>
            <a:endParaRPr lang="en-US" sz="900" b="1" kern="0" spc="300" dirty="0">
              <a:solidFill>
                <a:srgbClr val="F4B942"/>
              </a:solidFill>
              <a:highlight>
                <a:srgbClr val="000000"/>
              </a:highlight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8412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754880"/>
            <a:ext cx="8412480" cy="21031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77316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💡  ICC Cricket WC alone accounts for 27% of all watch time despite being ranked #2 by viewer count — indicating extremely high per-session engagement.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F3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B942"/>
                </a:solidFill>
                <a:highlight>
                  <a:srgbClr val="000000"/>
                </a:highlight>
              </a:rPr>
              <a:t>DATA-DRIVEN ACTIONS FOR AUDIENCE GROWTH AND ENGAGEMENT</a:t>
            </a:r>
            <a:endParaRPr lang="en-US" sz="900" b="1" kern="0" spc="300" dirty="0">
              <a:solidFill>
                <a:srgbClr val="F4B942"/>
              </a:solidFill>
              <a:highlight>
                <a:srgbClr val="000000"/>
              </a:highlight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57200" y="114300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57200" y="1143000"/>
            <a:ext cx="50292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57200" y="14630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051560" y="12344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Double Down on Sports</a:t>
            </a:r>
            <a:endParaRPr lang="en-US" sz="12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051560" y="1554480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Cricket and Supersport channels deliver the highest watch time per viewer. Priority investment in live sports rights will maximise engagement depth.</a:t>
            </a:r>
            <a:endParaRPr lang="en-US" sz="95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800600" y="114300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800600" y="1143000"/>
            <a:ext cx="502920" cy="1143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800600" y="14630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5394960" y="123444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Target Gauteng First</a:t>
            </a:r>
            <a:endParaRPr lang="en-US" sz="12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5394960" y="1554480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At 36% of all views, Gauteng is the undisputed hub. Geo-targeted campaigns and events in Gauteng will yield the highest ROI.</a:t>
            </a:r>
            <a:endParaRPr lang="en-US" sz="95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457200" y="242316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457200" y="2423160"/>
            <a:ext cx="502920" cy="11430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457200" y="27432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051560" y="25146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Convert the Female Audience</a:t>
            </a:r>
            <a:endParaRPr lang="en-US" sz="12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051560" y="2834640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With females at only 10% of viewers, there is a significant growth opportunity. E! Entertainment and Africa Magic are natural entry points for gender-balanced content strategies.</a:t>
            </a:r>
            <a:endParaRPr lang="en-US" sz="95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4800600" y="242316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4800600" y="2423160"/>
            <a:ext cx="502920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4800600" y="27432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5394960" y="25146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Leverage Saturday Prime Time</a:t>
            </a:r>
            <a:endParaRPr lang="en-US" sz="12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5394960" y="2834640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Saturday is the peak viewing day. Premium ad slots and content premieres on Saturdays will reach the highest concurrent audience.</a:t>
            </a:r>
            <a:endParaRPr lang="en-US" sz="95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457200" y="370332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457200" y="3703320"/>
            <a:ext cx="502920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457200" y="402336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1051560" y="37947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Ride the Q1 Growth Wave</a:t>
            </a:r>
            <a:endParaRPr lang="en-US" sz="1200" dirty="0"/>
          </a:p>
        </p:txBody>
      </p:sp>
      <p:sp>
        <p:nvSpPr>
          <p:cNvPr id="28" name="Text 26"/>
          <p:cNvSpPr/>
          <p:nvPr>
            <p:custDataLst>
              <p:tags r:id="rId25"/>
            </p:custDataLst>
          </p:nvPr>
        </p:nvSpPr>
        <p:spPr>
          <a:xfrm>
            <a:off x="1051560" y="4114800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Viewership jumped 119% from January to March. Aligning subscription promotions and content drops to this trajectory maximises Q2 momentum.</a:t>
            </a:r>
            <a:endParaRPr lang="en-US" sz="950" dirty="0"/>
          </a:p>
        </p:txBody>
      </p:sp>
      <p:sp>
        <p:nvSpPr>
          <p:cNvPr id="29" name="Shape 27"/>
          <p:cNvSpPr/>
          <p:nvPr>
            <p:custDataLst>
              <p:tags r:id="rId26"/>
            </p:custDataLst>
          </p:nvPr>
        </p:nvSpPr>
        <p:spPr>
          <a:xfrm>
            <a:off x="4800600" y="3703320"/>
            <a:ext cx="4160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>
            <p:custDataLst>
              <p:tags r:id="rId27"/>
            </p:custDataLst>
          </p:nvPr>
        </p:nvSpPr>
        <p:spPr>
          <a:xfrm>
            <a:off x="4800600" y="3703320"/>
            <a:ext cx="502920" cy="11430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28"/>
            </p:custDataLst>
          </p:nvPr>
        </p:nvSpPr>
        <p:spPr>
          <a:xfrm>
            <a:off x="4800600" y="402336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>
            <p:custDataLst>
              <p:tags r:id="rId29"/>
            </p:custDataLst>
          </p:nvPr>
        </p:nvSpPr>
        <p:spPr>
          <a:xfrm>
            <a:off x="5394960" y="37947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Expand Kids Channel Offering</a:t>
            </a:r>
            <a:endParaRPr lang="en-US" sz="1200" dirty="0"/>
          </a:p>
        </p:txBody>
      </p:sp>
      <p:sp>
        <p:nvSpPr>
          <p:cNvPr id="33" name="Text 31"/>
          <p:cNvSpPr/>
          <p:nvPr>
            <p:custDataLst>
              <p:tags r:id="rId30"/>
            </p:custDataLst>
          </p:nvPr>
        </p:nvSpPr>
        <p:spPr>
          <a:xfrm>
            <a:off x="5394960" y="4114800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Cartoon Network + Boomerang combined for 1,507 views. Growing the kids' portfolio can diversify revenue and lock in family subscriptions.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1A56A0">
              <a:alpha val="40000"/>
            </a:srgbClr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4B942">
              <a:alpha val="30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Brighttv Viewership Analytics  ·  Q1 2016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3716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63240"/>
            <a:ext cx="68580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▸  10,000 viewing records across 21 channels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▸  Supersport Live Events — most viewed channel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▸  Gauteng drives 36% of national viewership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▸  Viewership grew 119% through Q1 2016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8,&quot;left&quot;:439.2,&quot;top&quot;:90,&quot;width&quot;:259.2}"/>
</p:tagLst>
</file>

<file path=ppt/tags/tag2.xml><?xml version="1.0" encoding="utf-8"?>
<p:tagLst xmlns:p="http://schemas.openxmlformats.org/presentationml/2006/main">
  <p:tag name="KSO_WM_DIAGRAM_VIRTUALLY_FRAME" val="{&quot;height&quot;:288,&quot;left&quot;:439.2,&quot;top&quot;:90,&quot;width&quot;:259.2}"/>
</p:tagLst>
</file>

<file path=ppt/tags/tag3.xml><?xml version="1.0" encoding="utf-8"?>
<p:tagLst xmlns:p="http://schemas.openxmlformats.org/presentationml/2006/main">
  <p:tag name="KSO_WM_DIAGRAM_VIRTUALLY_FRAME" val="{&quot;height&quot;:288,&quot;left&quot;:439.2,&quot;top&quot;:90,&quot;width&quot;:259.2}"/>
</p:tagLst>
</file>

<file path=ppt/tags/tag4.xml><?xml version="1.0" encoding="utf-8"?>
<p:tagLst xmlns:p="http://schemas.openxmlformats.org/presentationml/2006/main">
  <p:tag name="KSO_WM_DIAGRAM_VIRTUALLY_FRAME" val="{&quot;height&quot;:288,&quot;left&quot;:439.2,&quot;top&quot;:90,&quot;width&quot;:259.2}"/>
</p:tagLst>
</file>

<file path=ppt/tags/tag5.xml><?xml version="1.0" encoding="utf-8"?>
<p:tagLst xmlns:p="http://schemas.openxmlformats.org/presentationml/2006/main">
  <p:tag name="KSO_WM_DIAGRAM_VIRTUALLY_FRAME" val="{&quot;height&quot;:288,&quot;left&quot;:439.2,&quot;top&quot;:90,&quot;width&quot;:259.2}"/>
</p:tagLst>
</file>

<file path=ppt/tags/tag6.xml><?xml version="1.0" encoding="utf-8"?>
<p:tagLst xmlns:p="http://schemas.openxmlformats.org/presentationml/2006/main">
  <p:tag name="KSO_WM_DIAGRAM_VIRTUALLY_FRAME" val="{&quot;height&quot;:288,&quot;left&quot;:439.2,&quot;top&quot;:90,&quot;width&quot;:259.2}"/>
</p:tagLst>
</file>

<file path=ppt/tags/tag7.xml><?xml version="1.0" encoding="utf-8"?>
<p:tagLst xmlns:p="http://schemas.openxmlformats.org/presentationml/2006/main">
  <p:tag name="KSO_WM_DIAGRAM_VIRTUALLY_FRAME" val="{&quot;height&quot;:288,&quot;left&quot;:439.2,&quot;top&quot;:90,&quot;width&quot;:259.2}"/>
</p:tagLst>
</file>

<file path=ppt/tags/tag8.xml><?xml version="1.0" encoding="utf-8"?>
<p:tagLst xmlns:p="http://schemas.openxmlformats.org/presentationml/2006/main">
  <p:tag name="KSO_WM_DIAGRAM_VIRTUALLY_FRAME" val="{&quot;height&quot;:288,&quot;left&quot;:439.2,&quot;top&quot;:90,&quot;width&quot;:259.2}"/>
</p:tagLst>
</file>

<file path=ppt/tags/tag9.xml><?xml version="1.0" encoding="utf-8"?>
<p:tagLst xmlns:p="http://schemas.openxmlformats.org/presentationml/2006/main">
  <p:tag name="KSO_WM_DIAGRAM_VIRTUALLY_FRAME" val="{&quot;height&quot;:288,&quot;left&quot;:439.2,&quot;top&quot;:90,&quot;width&quot;:259.2}"/>
</p:tagLst>
</file>

<file path=ppt/tags/tag10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11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12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13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14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15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16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17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18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19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20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21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22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23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24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25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26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27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28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29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30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31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32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33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34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35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36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37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38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ags/tag39.xml><?xml version="1.0" encoding="utf-8"?>
<p:tagLst xmlns:p="http://schemas.openxmlformats.org/presentationml/2006/main">
  <p:tag name="KSO_WM_DIAGRAM_VIRTUALLY_FRAME" val="{&quot;height&quot;:291.6,&quot;left&quot;:36,&quot;top&quot;:90,&quot;width&quot;:66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3182</Words>
  <Application>WPS Presentation</Application>
  <PresentationFormat>On-screen Show (16:9)</PresentationFormat>
  <Paragraphs>238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Arial Black</vt:lpstr>
      <vt:lpstr>Arial Black</vt:lpstr>
      <vt:lpstr>Arial Black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DStv Viewership Analytics – Jan–Mar 2016</dc:title>
  <dc:creator>PptxGenJS</dc:creator>
  <dc:subject>PptxGenJS Presentation</dc:subject>
  <cp:lastModifiedBy>NKULULEKO</cp:lastModifiedBy>
  <cp:revision>2</cp:revision>
  <dcterms:created xsi:type="dcterms:W3CDTF">2026-04-19T18:02:00Z</dcterms:created>
  <dcterms:modified xsi:type="dcterms:W3CDTF">2026-04-20T04:02:53Z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5A790A16DC0C4A30988D4A3F6D9604CE_13</vt:lpwstr>
  </property>
  <property fmtid="{D5CDD505-2E9C-101B-9397-08002B2CF9AE}" pid="3" name="KSOProductBuildVer">
    <vt:lpwstr>1033-12.2.0.21931</vt:lpwstr>
  </property>
</Properties>
</file>